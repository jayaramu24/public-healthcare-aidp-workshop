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51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8604B8-9688-9726-99F2-7903D81062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FB764-9EEC-7827-92B3-0EBFCC7226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" y="256032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83464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+ HUMAN IN LOOP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658368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repeatable way to build industry use cases with PHIC as the proof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acts as the delivery agent; humans provide industry judgment, service access, validation, and final approval.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5544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FF8F3"/>
          </a:solidFill>
          <a:ln w="8890">
            <a:solidFill>
              <a:srgbClr val="E9D9CF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4617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build loop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402336" cy="402336"/>
          </a:xfrm>
          <a:prstGeom prst="ellipse">
            <a:avLst/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258568"/>
            <a:ext cx="4023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221992"/>
            <a:ext cx="36118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industry signal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600199" y="2459736"/>
            <a:ext cx="3801157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public research, business goals, and participant personas.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07008" y="2724912"/>
            <a:ext cx="0" cy="228600"/>
          </a:xfrm>
          <a:prstGeom prst="line">
            <a:avLst/>
          </a:prstGeom>
          <a:noFill/>
          <a:ln w="12700">
            <a:solidFill>
              <a:srgbClr val="EEE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3044952"/>
            <a:ext cx="402336" cy="40233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4023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026664"/>
            <a:ext cx="36118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workshop system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56656" y="3264408"/>
            <a:ext cx="3886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data, medallion notebooks, star schema, ML, agents, guide.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7008" y="3529584"/>
            <a:ext cx="0" cy="228600"/>
          </a:xfrm>
          <a:prstGeom prst="line">
            <a:avLst/>
          </a:prstGeom>
          <a:noFill/>
          <a:ln w="12700">
            <a:solidFill>
              <a:srgbClr val="EEE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5840" y="3849624"/>
            <a:ext cx="402336" cy="402336"/>
          </a:xfrm>
          <a:prstGeom prst="ellipse">
            <a:avLst/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867912"/>
            <a:ext cx="4023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831336"/>
            <a:ext cx="36118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validates in real OCI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556656" y="4069080"/>
            <a:ext cx="3842655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in, test each step, correct product behavior, approve checkpoints.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07008" y="4334256"/>
            <a:ext cx="0" cy="228600"/>
          </a:xfrm>
          <a:prstGeom prst="line">
            <a:avLst/>
          </a:prstGeom>
          <a:noFill/>
          <a:ln w="12700">
            <a:solidFill>
              <a:srgbClr val="EEE5D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" y="4654296"/>
            <a:ext cx="402336" cy="402336"/>
          </a:xfrm>
          <a:prstGeom prst="ellipse">
            <a:avLst/>
          </a:prstGeom>
          <a:solidFill>
            <a:srgbClr val="B66D00"/>
          </a:solidFill>
          <a:ln w="12700">
            <a:solidFill>
              <a:srgbClr val="B66D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4672584"/>
            <a:ext cx="4023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4636008"/>
            <a:ext cx="36118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reusable assets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600199" y="4873752"/>
            <a:ext cx="3886199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Pages site, PDF guide, raw data bundle, notebooks, SQL, deck.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155448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8890">
            <a:solidFill>
              <a:srgbClr val="E8DED7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1773936"/>
            <a:ext cx="4800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 output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419088" y="2148840"/>
            <a:ext cx="473659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8890">
            <a:solidFill>
              <a:srgbClr val="E2D8D0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0" descr="/Users/jayarkri/Documents/Codex/2026-06-08/https-livelabs-oracle-com-ords-r/outputs/public_healthcare_lakehouse_workshop/assets/oac_dashboard_lab/oac_executive_overview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40" y="2148840"/>
            <a:ext cx="4563687" cy="2788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73952" y="5102352"/>
            <a:ext cx="46177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public healthcare claims command center, backed by generated data, AIDP pipelines, AI Lakehouse star schema, OAC analytics, ML, and an AI policy copilot.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" y="6601968"/>
            <a:ext cx="3749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example: Public Healthcare AIDP Workshop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7818120" y="6601968"/>
            <a:ext cx="3566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with Human in Loop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pattern has three distinct flows, all validated through the same loop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51560" y="1042416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Data-to-insights, ML/MLOps, and Agentic AI are related, but each has its own build path and checkpoint rhythm.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1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1627632" y="1508760"/>
            <a:ext cx="1600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data-to-insights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1737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users consume governed analytics and Assistant-ready dashboards.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39896" y="154533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85616" y="157276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776472" y="1856232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Storage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74920" y="1856232"/>
            <a:ext cx="393192" cy="0"/>
          </a:xfrm>
          <a:prstGeom prst="line">
            <a:avLst/>
          </a:prstGeom>
          <a:noFill/>
          <a:ln w="1778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50408" y="1417320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78424" y="154533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24144" y="157276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715000" y="1856232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Bronze/Silver/Gold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13448" y="1856232"/>
            <a:ext cx="393192" cy="0"/>
          </a:xfrm>
          <a:prstGeom prst="line">
            <a:avLst/>
          </a:prstGeom>
          <a:noFill/>
          <a:ln w="1778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88936" y="1417320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16952" y="154533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62672" y="157276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653528" y="1856232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Lakehouse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star schema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51976" y="1856232"/>
            <a:ext cx="393192" cy="0"/>
          </a:xfrm>
          <a:prstGeom prst="line">
            <a:avLst/>
          </a:prstGeom>
          <a:noFill/>
          <a:ln w="1778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27464" y="1417320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55480" y="1545336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0" y="1572768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592056" y="1856232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insights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3127248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154680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2</a:t>
            </a:r>
            <a:endParaRPr lang="en-US" sz="690" dirty="0"/>
          </a:p>
        </p:txBody>
      </p:sp>
      <p:sp>
        <p:nvSpPr>
          <p:cNvPr id="30" name="Text 28"/>
          <p:cNvSpPr/>
          <p:nvPr/>
        </p:nvSpPr>
        <p:spPr>
          <a:xfrm>
            <a:off x="1627632" y="3035808"/>
            <a:ext cx="1600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and MLOps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1600200" y="3419856"/>
            <a:ext cx="17373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work is grounded in the same gold-layer facts and dimensions.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2944368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39896" y="3072384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85616" y="3099816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776472" y="3383280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Lakehouse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data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5074920" y="3383280"/>
            <a:ext cx="393192" cy="0"/>
          </a:xfrm>
          <a:prstGeom prst="line">
            <a:avLst/>
          </a:prstGeom>
          <a:noFill/>
          <a:ln w="17780">
            <a:solidFill>
              <a:srgbClr val="4F7C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50408" y="2944368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78424" y="3072384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24144" y="3099816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715000" y="3383280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AIDP ML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train/test/eval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7013448" y="3383280"/>
            <a:ext cx="393192" cy="0"/>
          </a:xfrm>
          <a:prstGeom prst="line">
            <a:avLst/>
          </a:prstGeom>
          <a:noFill/>
          <a:ln w="17780">
            <a:solidFill>
              <a:srgbClr val="4F7C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488936" y="2944368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16952" y="3072384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62672" y="3099816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7653528" y="3383280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run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+ model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8951976" y="3383280"/>
            <a:ext cx="393192" cy="0"/>
          </a:xfrm>
          <a:prstGeom prst="line">
            <a:avLst/>
          </a:prstGeom>
          <a:noFill/>
          <a:ln w="17780">
            <a:solidFill>
              <a:srgbClr val="4F7C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427464" y="2944368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555480" y="3072384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01200" y="3099816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9592056" y="3383280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Scored output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action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685800" y="4654296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1520" y="46817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3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1627632" y="4562856"/>
            <a:ext cx="1600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flow</a:t>
            </a:r>
            <a:endParaRPr lang="en-US" sz="1160" dirty="0"/>
          </a:p>
        </p:txBody>
      </p:sp>
      <p:sp>
        <p:nvSpPr>
          <p:cNvPr id="54" name="Text 52"/>
          <p:cNvSpPr/>
          <p:nvPr/>
        </p:nvSpPr>
        <p:spPr>
          <a:xfrm>
            <a:off x="1600200" y="4946904"/>
            <a:ext cx="1737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combines structured claims data with policy context.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11880" y="4471416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739896" y="4599432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85616" y="4626864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3776472" y="4910328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Lakehouse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source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5074920" y="4910328"/>
            <a:ext cx="393192" cy="0"/>
          </a:xfrm>
          <a:prstGeom prst="line">
            <a:avLst/>
          </a:prstGeom>
          <a:noFill/>
          <a:ln w="1778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550408" y="4471416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678424" y="4599432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724144" y="4626864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715000" y="4910328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documents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013448" y="4910328"/>
            <a:ext cx="393192" cy="0"/>
          </a:xfrm>
          <a:prstGeom prst="line">
            <a:avLst/>
          </a:prstGeom>
          <a:noFill/>
          <a:ln w="1778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488936" y="4471416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616952" y="4599432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662672" y="4626864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7653528" y="4910328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+ RAG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220" dirty="0"/>
          </a:p>
        </p:txBody>
      </p:sp>
      <p:sp>
        <p:nvSpPr>
          <p:cNvPr id="69" name="Shape 67"/>
          <p:cNvSpPr/>
          <p:nvPr/>
        </p:nvSpPr>
        <p:spPr>
          <a:xfrm>
            <a:off x="8951976" y="4910328"/>
            <a:ext cx="393192" cy="0"/>
          </a:xfrm>
          <a:prstGeom prst="line">
            <a:avLst/>
          </a:prstGeom>
          <a:noFill/>
          <a:ln w="1778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427464" y="4471416"/>
            <a:ext cx="141732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7DDD5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555480" y="4599432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601200" y="4626864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9592056" y="4910328"/>
            <a:ext cx="10881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+ actions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22960" y="5815584"/>
            <a:ext cx="10533888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8890">
            <a:solidFill>
              <a:srgbClr val="F1C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14400" y="5916168"/>
            <a:ext cx="10351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checkpoints sit between every major transition: data realism, product setup, successful notebook runs, model metrics, agent test answers, and published GitHub Pages.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22960" y="6601968"/>
            <a:ext cx="3749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example: Public Healthcare AIDP Workshop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7818120" y="6601968"/>
            <a:ext cx="3566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with Human in Loop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"/>
            <a:ext cx="12191695" cy="6858000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Human-in-loop turns Codex from a content generator into a delivery partner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1042416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is intentionally interactive: Codex proposes and builds; humans approve, log in, test, and correct product-specific steps.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86384" y="1353312"/>
            <a:ext cx="516636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E9DDD4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00200"/>
            <a:ext cx="45720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responsibilities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51560" y="2084832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FF7F2"/>
          </a:solidFill>
          <a:ln w="8890">
            <a:solidFill>
              <a:srgbClr val="F0D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216712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3127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current industry challenges and propose use cases.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834640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FF7F2"/>
          </a:solidFill>
          <a:ln w="8890">
            <a:solidFill>
              <a:srgbClr val="F0D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7008" y="2916936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240280" y="289864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raw data with depth, geographic spread, hierarchy, and useful noise.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584448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FF7F2"/>
          </a:solidFill>
          <a:ln w="8890">
            <a:solidFill>
              <a:srgbClr val="F0D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7008" y="366674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2240280" y="3648455"/>
            <a:ext cx="3127248" cy="3657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/>
              <a:t>Generate notebooks, SQL, star schema, ML flow, agent prompts, guide, and deck.</a:t>
            </a:r>
          </a:p>
        </p:txBody>
      </p:sp>
      <p:sp>
        <p:nvSpPr>
          <p:cNvPr id="16" name="Shape 14"/>
          <p:cNvSpPr/>
          <p:nvPr/>
        </p:nvSpPr>
        <p:spPr>
          <a:xfrm>
            <a:off x="1051560" y="4334256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FF7F2"/>
          </a:solidFill>
          <a:ln w="8890">
            <a:solidFill>
              <a:srgbClr val="F0D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7008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Artifacts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240280" y="4398264"/>
            <a:ext cx="31272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local checks for links, downloads, PDF/deck quality, and layout.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353312"/>
            <a:ext cx="516636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E9DDD4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28816" y="1600200"/>
            <a:ext cx="45720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validation responsibilities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01384" y="2084832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6FAFC"/>
          </a:solidFill>
          <a:ln w="8890">
            <a:solidFill>
              <a:srgbClr val="D7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56832" y="216712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7690104" y="2148840"/>
            <a:ext cx="3127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business story, personas, lab sequence, and data realism.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01384" y="2834640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6FAFC"/>
          </a:solidFill>
          <a:ln w="8890">
            <a:solidFill>
              <a:srgbClr val="D7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56832" y="2916936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7690104" y="289864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 to OCI, AIDP, AI Lakehouse, and OAC where live validation is needed.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01384" y="3584448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6FAFC"/>
          </a:solidFill>
          <a:ln w="8890">
            <a:solidFill>
              <a:srgbClr val="D7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56832" y="366674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7690104" y="3648456"/>
            <a:ext cx="31272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true product screens and correct wrong assumptions immediately.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01384" y="4334256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F6FAFC"/>
          </a:solidFill>
          <a:ln w="8890">
            <a:solidFill>
              <a:srgbClr val="D7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56832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7690104" y="4398264"/>
            <a:ext cx="31272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final workshop can be executed by new participants.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33872" y="3456432"/>
            <a:ext cx="365760" cy="0"/>
          </a:xfrm>
          <a:prstGeom prst="line">
            <a:avLst/>
          </a:prstGeom>
          <a:noFill/>
          <a:ln w="2286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13248" y="3044952"/>
            <a:ext cx="914400" cy="914400"/>
          </a:xfrm>
          <a:prstGeom prst="ellipse">
            <a:avLst/>
          </a:prstGeom>
          <a:solidFill>
            <a:srgbClr val="2F2A26"/>
          </a:solidFill>
          <a:ln w="12700">
            <a:solidFill>
              <a:srgbClr val="2F2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97286" y="3265716"/>
            <a:ext cx="768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43584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repeatable industry-specific workshops that are generated fast, but still grounded in real product behavior and human domain judgment.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" y="6601968"/>
            <a:ext cx="3749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example: Public Healthcare AIDP Workshop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7818120" y="6601968"/>
            <a:ext cx="3566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with Human in Loop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PHIC demonstrates the approach end to end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" y="1042416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proof sequence follows the actual build order: data story, AIDP medallion to AI Lakehouse, OAC, ML, and Agent.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35021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1417320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Business context and data story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950976" y="1773936"/>
            <a:ext cx="27340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EFE5DD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Users/jayarkri/Documents/Codex/2026-06-08/https-livelabs-oracle-com-ords-r/outputs/public_healthcare_lakehouse_workshop/assets/public_healthcare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811" y="1773936"/>
            <a:ext cx="1212387" cy="841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2724912"/>
            <a:ext cx="3044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5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business problems are translated into synthetic claims, membership, provider, disbursement, JSON event, spatial, and policy-document data.</a:t>
            </a:r>
            <a:endParaRPr lang="en-US" sz="735" dirty="0"/>
          </a:p>
        </p:txBody>
      </p:sp>
      <p:sp>
        <p:nvSpPr>
          <p:cNvPr id="10" name="Shape 7"/>
          <p:cNvSpPr/>
          <p:nvPr/>
        </p:nvSpPr>
        <p:spPr>
          <a:xfrm>
            <a:off x="4343400" y="1298448"/>
            <a:ext cx="35021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71416" y="1417320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AIDP medallion to AI Lakehouse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5143157" y="1847088"/>
            <a:ext cx="1811312" cy="713232"/>
          </a:xfrm>
          <a:prstGeom prst="roundRect">
            <a:avLst>
              <a:gd name="adj" fmla="val 8974"/>
            </a:avLst>
          </a:prstGeom>
          <a:solidFill>
            <a:srgbClr val="F7FBFD"/>
          </a:solidFill>
          <a:ln w="8890">
            <a:solidFill>
              <a:srgbClr val="D4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43157" y="1883664"/>
            <a:ext cx="181131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AIDP medallion architecture</a:t>
            </a:r>
            <a:endParaRPr lang="en-US" sz="580" dirty="0"/>
          </a:p>
        </p:txBody>
      </p:sp>
      <p:sp>
        <p:nvSpPr>
          <p:cNvPr id="14" name="Shape 11"/>
          <p:cNvSpPr/>
          <p:nvPr/>
        </p:nvSpPr>
        <p:spPr>
          <a:xfrm>
            <a:off x="4553712" y="2048256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2E8DF"/>
          </a:solidFill>
          <a:ln w="889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81144" y="2112264"/>
            <a:ext cx="4754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5102352" y="2212848"/>
            <a:ext cx="52578" cy="0"/>
          </a:xfrm>
          <a:prstGeom prst="line">
            <a:avLst/>
          </a:prstGeom>
          <a:noFill/>
          <a:ln w="1016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91506" y="2048256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E7D0C4"/>
          </a:solidFill>
          <a:ln w="889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18938" y="2112264"/>
            <a:ext cx="4754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620" dirty="0"/>
          </a:p>
        </p:txBody>
      </p:sp>
      <p:sp>
        <p:nvSpPr>
          <p:cNvPr id="19" name="Shape 16"/>
          <p:cNvSpPr/>
          <p:nvPr/>
        </p:nvSpPr>
        <p:spPr>
          <a:xfrm>
            <a:off x="5740146" y="2212848"/>
            <a:ext cx="52578" cy="0"/>
          </a:xfrm>
          <a:prstGeom prst="line">
            <a:avLst/>
          </a:prstGeom>
          <a:noFill/>
          <a:ln w="1016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29300" y="2048256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E8EDF0"/>
          </a:solidFill>
          <a:ln w="889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56732" y="2112264"/>
            <a:ext cx="4754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620" dirty="0"/>
          </a:p>
        </p:txBody>
      </p:sp>
      <p:sp>
        <p:nvSpPr>
          <p:cNvPr id="22" name="Shape 19"/>
          <p:cNvSpPr/>
          <p:nvPr/>
        </p:nvSpPr>
        <p:spPr>
          <a:xfrm>
            <a:off x="6377940" y="2212848"/>
            <a:ext cx="52578" cy="0"/>
          </a:xfrm>
          <a:prstGeom prst="line">
            <a:avLst/>
          </a:prstGeom>
          <a:noFill/>
          <a:ln w="10160">
            <a:solidFill>
              <a:srgbClr val="315F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67094" y="2048256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5E0AF"/>
          </a:solidFill>
          <a:ln w="889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94526" y="2112264"/>
            <a:ext cx="4754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620" dirty="0"/>
          </a:p>
        </p:txBody>
      </p:sp>
      <p:sp>
        <p:nvSpPr>
          <p:cNvPr id="25" name="Shape 22"/>
          <p:cNvSpPr/>
          <p:nvPr/>
        </p:nvSpPr>
        <p:spPr>
          <a:xfrm>
            <a:off x="7015734" y="2212848"/>
            <a:ext cx="52578" cy="0"/>
          </a:xfrm>
          <a:prstGeom prst="line">
            <a:avLst/>
          </a:prstGeom>
          <a:noFill/>
          <a:ln w="1016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04888" y="2048256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DCE9F0"/>
          </a:solidFill>
          <a:ln w="8890">
            <a:solidFill>
              <a:srgbClr val="AFC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0" y="2112264"/>
            <a:ext cx="47548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729984" y="2459736"/>
            <a:ext cx="8229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star schema push</a:t>
            </a:r>
            <a:endParaRPr lang="en-US" sz="530" dirty="0"/>
          </a:p>
        </p:txBody>
      </p:sp>
      <p:sp>
        <p:nvSpPr>
          <p:cNvPr id="29" name="Text 26"/>
          <p:cNvSpPr/>
          <p:nvPr/>
        </p:nvSpPr>
        <p:spPr>
          <a:xfrm>
            <a:off x="4572000" y="2724912"/>
            <a:ext cx="3044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5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AIDP prepares Bronze, Silver, and Gold data, then writes the Claims star schema into AI Lakehouse for consumption.</a:t>
            </a:r>
            <a:endParaRPr lang="en-US" sz="735" dirty="0"/>
          </a:p>
        </p:txBody>
      </p:sp>
      <p:sp>
        <p:nvSpPr>
          <p:cNvPr id="30" name="Shape 27"/>
          <p:cNvSpPr/>
          <p:nvPr/>
        </p:nvSpPr>
        <p:spPr>
          <a:xfrm>
            <a:off x="8119872" y="1298448"/>
            <a:ext cx="35021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47888" y="1417320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4F7C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OAC executive insight layer</a:t>
            </a:r>
            <a:endParaRPr lang="en-US" sz="1070" dirty="0"/>
          </a:p>
        </p:txBody>
      </p:sp>
      <p:sp>
        <p:nvSpPr>
          <p:cNvPr id="32" name="Shape 29"/>
          <p:cNvSpPr/>
          <p:nvPr/>
        </p:nvSpPr>
        <p:spPr>
          <a:xfrm>
            <a:off x="8503920" y="1773936"/>
            <a:ext cx="27340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EFE5DD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1" descr="/Users/jayarkri/Documents/Codex/2026-06-08/https-livelabs-oracle-com-ords-r/outputs/public_healthcare_lakehouse_workshop/assets/oac_dashboard_lab/oac_executive_overview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654" y="1773936"/>
            <a:ext cx="1376588" cy="84124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348472" y="2724912"/>
            <a:ext cx="3044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5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Lakehouse Claims star schema powers KPI tiles, denial analysis, geography, detailed tables, trends, and Assistant responses.</a:t>
            </a:r>
            <a:endParaRPr lang="en-US" sz="735" dirty="0"/>
          </a:p>
        </p:txBody>
      </p:sp>
      <p:sp>
        <p:nvSpPr>
          <p:cNvPr id="35" name="Shape 31"/>
          <p:cNvSpPr/>
          <p:nvPr/>
        </p:nvSpPr>
        <p:spPr>
          <a:xfrm>
            <a:off x="2441448" y="3694176"/>
            <a:ext cx="35021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569464" y="3813048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C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ML train-test-evaluate flow</a:t>
            </a:r>
            <a:endParaRPr lang="en-US" sz="1070" dirty="0"/>
          </a:p>
        </p:txBody>
      </p:sp>
      <p:sp>
        <p:nvSpPr>
          <p:cNvPr id="37" name="Shape 33"/>
          <p:cNvSpPr/>
          <p:nvPr/>
        </p:nvSpPr>
        <p:spPr>
          <a:xfrm>
            <a:off x="2825496" y="4169664"/>
            <a:ext cx="27340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EFE5DD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2" descr="/Users/jayarkri/Documents/Codex/2026-06-08/https-livelabs-oracle-com-ords-r/outputs/public_healthcare_lakehouse_workshop/assets/aidp_ml_lab/screenshots/04_ml_run_metrics_trai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526" y="4169664"/>
            <a:ext cx="1345997" cy="8412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670048" y="5120640"/>
            <a:ext cx="3044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5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AIDP ML uses gold-layer claims features, splits train and test data, logs metrics, and registers the model for reuse.</a:t>
            </a:r>
            <a:endParaRPr lang="en-US" sz="735" dirty="0"/>
          </a:p>
        </p:txBody>
      </p:sp>
      <p:sp>
        <p:nvSpPr>
          <p:cNvPr id="40" name="Shape 35"/>
          <p:cNvSpPr/>
          <p:nvPr/>
        </p:nvSpPr>
        <p:spPr>
          <a:xfrm>
            <a:off x="6217920" y="3694176"/>
            <a:ext cx="35021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345936" y="3813048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B6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Agentic claims copilot</a:t>
            </a:r>
            <a:endParaRPr lang="en-US" sz="1070" dirty="0"/>
          </a:p>
        </p:txBody>
      </p:sp>
      <p:sp>
        <p:nvSpPr>
          <p:cNvPr id="42" name="Shape 37"/>
          <p:cNvSpPr/>
          <p:nvPr/>
        </p:nvSpPr>
        <p:spPr>
          <a:xfrm>
            <a:off x="6601968" y="4169664"/>
            <a:ext cx="27340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EFE5DD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3" descr="/Users/jayarkri/Documents/Codex/2026-06-08/https-livelabs-oracle-com-ords-r/outputs/public_healthcare_lakehouse_workshop/assets/aidp_agent_lab/screenshots/01_agent_flow_development_canv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194" y="4169664"/>
            <a:ext cx="1081605" cy="84124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446520" y="5120640"/>
            <a:ext cx="3044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5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AIDP Agent Flow combines SQL over the claims star schema with RAG over policy documents through a supervised agent experience.</a:t>
            </a:r>
            <a:endParaRPr lang="en-US" sz="735" dirty="0"/>
          </a:p>
        </p:txBody>
      </p:sp>
      <p:sp>
        <p:nvSpPr>
          <p:cNvPr id="45" name="Text 39"/>
          <p:cNvSpPr/>
          <p:nvPr/>
        </p:nvSpPr>
        <p:spPr>
          <a:xfrm>
            <a:off x="1143000" y="5989320"/>
            <a:ext cx="9921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proof pattern can be reused for banking, manufacturing, insurance, public sector, telecom, or any business function with similar human validation checkpoints.</a:t>
            </a:r>
            <a:endParaRPr lang="en-US" sz="1020" dirty="0"/>
          </a:p>
        </p:txBody>
      </p:sp>
      <p:sp>
        <p:nvSpPr>
          <p:cNvPr id="46" name="Shape 4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822960" y="6601968"/>
            <a:ext cx="3749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example: Public Healthcare AIDP Workshop</a:t>
            </a:r>
            <a:endParaRPr lang="en-US" sz="680" dirty="0"/>
          </a:p>
        </p:txBody>
      </p:sp>
      <p:sp>
        <p:nvSpPr>
          <p:cNvPr id="48" name="Text 42"/>
          <p:cNvSpPr/>
          <p:nvPr/>
        </p:nvSpPr>
        <p:spPr>
          <a:xfrm>
            <a:off x="7818120" y="6601968"/>
            <a:ext cx="3566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with Human in Loop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 w="12700">
            <a:solidFill>
              <a:srgbClr val="FB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Scaling the method: one factory package, many industry workshops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" y="900898"/>
            <a:ext cx="10058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can reuse the prompt package, folder structure, quality checklist, GitHub publishing flow, and service-specific patterns.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" y="1499616"/>
            <a:ext cx="23591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55648" y="1243584"/>
            <a:ext cx="420624" cy="420624"/>
          </a:xfrm>
          <a:prstGeom prst="ellipse">
            <a:avLst/>
          </a:prstGeom>
          <a:solidFill>
            <a:srgbClr val="315F79"/>
          </a:solidFill>
          <a:ln w="12700">
            <a:solidFill>
              <a:srgbClr val="315F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55648" y="1271016"/>
            <a:ext cx="420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0976" y="1691640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industry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69264" y="1975104"/>
            <a:ext cx="19933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researches current public business challenges first.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182112" y="2084832"/>
            <a:ext cx="347472" cy="0"/>
          </a:xfrm>
          <a:prstGeom prst="line">
            <a:avLst/>
          </a:prstGeom>
          <a:noFill/>
          <a:ln w="1524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21024" y="1499616"/>
            <a:ext cx="23591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0288" y="1243584"/>
            <a:ext cx="420624" cy="420624"/>
          </a:xfrm>
          <a:prstGeom prst="ellipse">
            <a:avLst/>
          </a:prstGeom>
          <a:solidFill>
            <a:srgbClr val="4F7C5B"/>
          </a:solidFill>
          <a:ln w="12700">
            <a:solidFill>
              <a:srgbClr val="4F7C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1271016"/>
            <a:ext cx="420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85616" y="1691640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design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803904" y="1975104"/>
            <a:ext cx="19933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reviews use case, personas, labs, data, ML, and agent plan.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16752" y="2084832"/>
            <a:ext cx="347472" cy="0"/>
          </a:xfrm>
          <a:prstGeom prst="line">
            <a:avLst/>
          </a:prstGeom>
          <a:noFill/>
          <a:ln w="1524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55664" y="1499616"/>
            <a:ext cx="23591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24928" y="1243584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4928" y="1271016"/>
            <a:ext cx="420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0256" y="1691640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test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638544" y="1975104"/>
            <a:ext cx="19933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creates assets; human validates in OCI services screen by screen.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851392" y="2084832"/>
            <a:ext cx="347472" cy="0"/>
          </a:xfrm>
          <a:prstGeom prst="line">
            <a:avLst/>
          </a:prstGeom>
          <a:noFill/>
          <a:ln w="15240">
            <a:solidFill>
              <a:srgbClr val="C746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90304" y="1499616"/>
            <a:ext cx="23591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59568" y="1243584"/>
            <a:ext cx="420624" cy="420624"/>
          </a:xfrm>
          <a:prstGeom prst="ellipse">
            <a:avLst/>
          </a:prstGeom>
          <a:solidFill>
            <a:srgbClr val="B66D00"/>
          </a:solidFill>
          <a:ln w="12700">
            <a:solidFill>
              <a:srgbClr val="B66D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59568" y="1271016"/>
            <a:ext cx="420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54896" y="1691640"/>
            <a:ext cx="2029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473184" y="1975104"/>
            <a:ext cx="19933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commands push the workshop to GitHub Pages for a stable URL.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68680" y="324612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7F2"/>
          </a:solidFill>
          <a:ln w="8890">
            <a:solidFill>
              <a:srgbClr val="F0D0C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78992" y="3456432"/>
            <a:ext cx="29443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data design standard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3785616"/>
            <a:ext cx="294436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raw volumes should create 100K-200K rows in the primary fact table, with trend depth, hierarchy, geography, segments, and controlled noise.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4462272" y="324612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5FAFC"/>
          </a:solidFill>
          <a:ln w="8890">
            <a:solidFill>
              <a:srgbClr val="D5E3EA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456432"/>
            <a:ext cx="2971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F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service skill memory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3785616"/>
            <a:ext cx="2971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reusable package tells Codex to apply learned OCI, AIDP, AI Lakehouse, OAC, ML/MLOps, and Agent Flow patterns before producing new workshops.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46720" y="324612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8890">
            <a:solidFill>
              <a:srgbClr val="E8DAD2"/>
            </a:solidFill>
            <a:prstDash val="solid"/>
          </a:ln>
          <a:effectLst>
            <a:outerShdw blurRad="15240" dist="50800" dir="2700000" algn="bl" rotWithShape="0">
              <a:srgbClr val="CFC2BA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47888" y="3456432"/>
            <a:ext cx="2971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7C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delivery governance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47888" y="3785616"/>
            <a:ext cx="2971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C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checks cover step-screen alignment, executable notebooks, clean downloads, working GitHub Pages, and participant-safe wording.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1234440" y="5285232"/>
            <a:ext cx="9710928" cy="621792"/>
          </a:xfrm>
          <a:prstGeom prst="roundRect">
            <a:avLst>
              <a:gd name="adj" fmla="val 14706"/>
            </a:avLst>
          </a:prstGeom>
          <a:solidFill>
            <a:srgbClr val="FFF2EA"/>
          </a:solidFill>
          <a:ln w="8890">
            <a:solidFill>
              <a:srgbClr val="F0B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81328" y="5449824"/>
            <a:ext cx="92171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8F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this is an Agentic AI with Human in Loop factory for repeatable, industry-specific Oracle data and AI use cases.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6601968"/>
            <a:ext cx="3749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PHIC example: Public Healthcare AIDP Workshop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7818120" y="6601968"/>
            <a:ext cx="3566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B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with Human in Loop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Macintosh PowerPoint</Application>
  <PresentationFormat>Widescreen</PresentationFormat>
  <Paragraphs>145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Oracle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with Human in Loop for Repeatable Industry Use Cases</dc:title>
  <dc:subject>Agentic AI with Human in Loop workshop factory</dc:subject>
  <dc:creator>Oracle</dc:creator>
  <cp:lastModifiedBy>Jayaram Krishnamachar</cp:lastModifiedBy>
  <cp:revision>2</cp:revision>
  <dcterms:created xsi:type="dcterms:W3CDTF">2026-07-10T04:33:43Z</dcterms:created>
  <dcterms:modified xsi:type="dcterms:W3CDTF">2026-07-10T04:49:49Z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Confidential - Oracle Restricted \Employees Only</vt:lpwstr>
  </property>
</Properties>
</file>